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90956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65836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800" b="1">
                <a:solidFill>
                  <a:srgbClr val="008080"/>
                </a:solidFill>
                <a:latin typeface="Malgun Gothic"/>
              </a:rPr>
              <a:t>AHP-LP 기반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498079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3600" b="1">
                <a:solidFill>
                  <a:srgbClr val="1A2F49"/>
                </a:solidFill>
                <a:latin typeface="Malgun Gothic"/>
              </a:rPr>
              <a:t>20대 맞춤형 ETF
포트폴리오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63240"/>
            <a:ext cx="65836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700" b="0">
                <a:solidFill>
                  <a:srgbClr val="66707B"/>
                </a:solidFill>
                <a:latin typeface="Malgun Gothic"/>
              </a:rPr>
              <a:t>투자성향 정량화와 ETF 최적비중 도출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94960"/>
            <a:ext cx="70408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경영과학 프로젝트 Proposal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79008"/>
            <a:ext cx="7040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00" b="0">
                <a:solidFill>
                  <a:srgbClr val="66707B"/>
                </a:solidFill>
                <a:latin typeface="Malgun Gothic"/>
              </a:rPr>
              <a:t>Yahoo Finance 데이터 기반 · Excel Solver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234440"/>
            <a:ext cx="2834640" cy="731520"/>
          </a:xfrm>
          <a:prstGeom prst="roundRect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AHP/가중치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75520" y="2011680"/>
            <a:ext cx="0" cy="27432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2377440"/>
            <a:ext cx="2834640" cy="7315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ETF 점수화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75520" y="3154680"/>
            <a:ext cx="0" cy="27432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3520440"/>
            <a:ext cx="2834640" cy="731520"/>
          </a:xfrm>
          <a:prstGeom prst="roundRect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LP Solver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4663440"/>
            <a:ext cx="30175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성향별 최적
ETF 비중 도출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44197"/>
            <a:ext cx="2774799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350" b="1" dirty="0">
                <a:solidFill>
                  <a:srgbClr val="1A2F49"/>
                </a:solidFill>
                <a:latin typeface="Malgun Gothic"/>
              </a:rPr>
              <a:t>6</a:t>
            </a:r>
            <a:r>
              <a:rPr sz="1350" b="1" dirty="0">
                <a:solidFill>
                  <a:srgbClr val="1A2F49"/>
                </a:solidFill>
                <a:latin typeface="Malgun Gothic"/>
              </a:rPr>
              <a:t>조. 김선우, 성</a:t>
            </a:r>
            <a:r>
              <a:rPr lang="ko-KR" altLang="en-US" sz="1350" b="1" dirty="0">
                <a:solidFill>
                  <a:srgbClr val="1A2F49"/>
                </a:solidFill>
                <a:latin typeface="Malgun Gothic"/>
              </a:rPr>
              <a:t>한</a:t>
            </a:r>
            <a:r>
              <a:rPr sz="1350" b="1" dirty="0">
                <a:solidFill>
                  <a:srgbClr val="1A2F49"/>
                </a:solidFill>
                <a:latin typeface="Malgun Gothic"/>
              </a:rPr>
              <a:t>규, </a:t>
            </a:r>
            <a:r>
              <a:rPr sz="1350" b="1" dirty="0" err="1">
                <a:solidFill>
                  <a:srgbClr val="1A2F49"/>
                </a:solidFill>
                <a:latin typeface="Malgun Gothic"/>
              </a:rPr>
              <a:t>윤다경</a:t>
            </a:r>
            <a:r>
              <a:rPr sz="1350" b="1" dirty="0">
                <a:solidFill>
                  <a:srgbClr val="1A2F49"/>
                </a:solidFill>
                <a:latin typeface="Malgun Gothic"/>
              </a:rPr>
              <a:t>, </a:t>
            </a:r>
            <a:r>
              <a:rPr sz="1350" b="1" dirty="0" err="1">
                <a:solidFill>
                  <a:srgbClr val="1A2F49"/>
                </a:solidFill>
                <a:latin typeface="Malgun Gothic"/>
              </a:rPr>
              <a:t>임민호</a:t>
            </a:r>
            <a:endParaRPr sz="1350" b="1" dirty="0">
              <a:solidFill>
                <a:srgbClr val="1A2F49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문제 제기: 왜 ETF 투자가 어려운가?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1" y="1344168"/>
            <a:ext cx="3200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선택지 과다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1" y="1755648"/>
            <a:ext cx="32004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ETF 종류가 많아 투자자가 어떤 상품을 선택해야 하는지 판단하기 어렵다.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188720"/>
          </a:xfrm>
          <a:prstGeom prst="rect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7992" y="1344168"/>
            <a:ext cx="3200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수익률 중심의 한계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755648"/>
            <a:ext cx="32004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과거 수익률만 보면 변동성, MDD, 배당 안정성, 하락장 방어력을 놓칠 수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188720"/>
          </a:xfrm>
          <a:prstGeom prst="rect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1312" y="1344168"/>
            <a:ext cx="3200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개인 성향 미반영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1755648"/>
            <a:ext cx="32004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투자자마다 성장성, 안정성, 현금흐름, 방어성을 보는 관점이 다르다.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63240"/>
            <a:ext cx="9966960" cy="1005840"/>
          </a:xfrm>
          <a:prstGeom prst="roundRect">
            <a:avLst/>
          </a:prstGeom>
          <a:solidFill>
            <a:srgbClr val="E1F0FA"/>
          </a:solidFill>
          <a:ln>
            <a:solidFill>
              <a:srgbClr val="E1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46304" rIns="146304" bIns="146304" rtlCol="0" anchor="ctr"/>
          <a:lstStyle/>
          <a:p>
            <a:pPr algn="ctr"/>
            <a:r>
              <a:rPr sz="2700" b="1">
                <a:solidFill>
                  <a:srgbClr val="1A2F49"/>
                </a:solidFill>
                <a:latin typeface="Malgun Gothic"/>
              </a:rPr>
              <a:t>ETF 선택 문제는 단순 수익률 비교가 아니라
투자성향을 반영해야 하는 다기준 의사결정 문제이다.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846320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78992" y="4754880"/>
            <a:ext cx="1007668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기존 방식: 과거 수익률·인기 ETF·단일 지표 중심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330952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78992" y="5239512"/>
            <a:ext cx="1007668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</a:rPr>
              <a:t>필요한 접근: 여러 투자 기준과 현실적 제약조건을 함께 반영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 dirty="0">
                <a:solidFill>
                  <a:srgbClr val="66707B"/>
                </a:solidFill>
                <a:latin typeface="Malgun Gothic"/>
              </a:rPr>
              <a:t>AHP-LP </a:t>
            </a:r>
            <a:r>
              <a:rPr sz="800" b="0" dirty="0" err="1">
                <a:solidFill>
                  <a:srgbClr val="66707B"/>
                </a:solidFill>
                <a:latin typeface="Malgun Gothic"/>
              </a:rPr>
              <a:t>기반</a:t>
            </a:r>
            <a:r>
              <a:rPr sz="800" b="0" dirty="0">
                <a:solidFill>
                  <a:srgbClr val="66707B"/>
                </a:solidFill>
                <a:latin typeface="Malgun Gothic"/>
              </a:rPr>
              <a:t> 20대 </a:t>
            </a:r>
            <a:r>
              <a:rPr sz="800" b="0" dirty="0" err="1">
                <a:solidFill>
                  <a:srgbClr val="66707B"/>
                </a:solidFill>
                <a:latin typeface="Malgun Gothic"/>
              </a:rPr>
              <a:t>맞춤형</a:t>
            </a:r>
            <a:r>
              <a:rPr sz="800" b="0" dirty="0">
                <a:solidFill>
                  <a:srgbClr val="66707B"/>
                </a:solidFill>
                <a:latin typeface="Malgun Gothic"/>
              </a:rPr>
              <a:t> ETF </a:t>
            </a:r>
            <a:r>
              <a:rPr sz="800" b="0" dirty="0" err="1">
                <a:solidFill>
                  <a:srgbClr val="66707B"/>
                </a:solidFill>
                <a:latin typeface="Malgun Gothic"/>
              </a:rPr>
              <a:t>포트폴리오</a:t>
            </a:r>
            <a:r>
              <a:rPr sz="800" b="0" dirty="0">
                <a:solidFill>
                  <a:srgbClr val="66707B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66707B"/>
                </a:solidFill>
                <a:latin typeface="Malgun Gothic"/>
              </a:rPr>
              <a:t>설계</a:t>
            </a:r>
            <a:endParaRPr sz="800" b="0" dirty="0">
              <a:solidFill>
                <a:srgbClr val="66707B"/>
              </a:solidFill>
              <a:latin typeface="Malgun Gothic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왜 20대 투자자인가?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1234440"/>
            <a:ext cx="731520" cy="7315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1600200"/>
            <a:ext cx="914400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214884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500" b="1">
                <a:solidFill>
                  <a:srgbClr val="1A2F49"/>
                </a:solidFill>
                <a:latin typeface="Malgun Gothic"/>
              </a:rPr>
              <a:t>긴 투자 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78608"/>
            <a:ext cx="23774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250" b="0">
                <a:solidFill>
                  <a:srgbClr val="222222"/>
                </a:solidFill>
                <a:latin typeface="Malgun Gothic"/>
              </a:rPr>
              <a:t>복리 효과를 크게 누릴 수 있는 세대</a:t>
            </a:r>
          </a:p>
        </p:txBody>
      </p:sp>
      <p:sp>
        <p:nvSpPr>
          <p:cNvPr id="9" name="Oval 8"/>
          <p:cNvSpPr/>
          <p:nvPr/>
        </p:nvSpPr>
        <p:spPr>
          <a:xfrm>
            <a:off x="4325112" y="1234440"/>
            <a:ext cx="731520" cy="731520"/>
          </a:xfrm>
          <a:prstGeom prst="ellipse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1600200"/>
            <a:ext cx="914400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0439" y="214884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500" b="1">
                <a:solidFill>
                  <a:srgbClr val="1A2F49"/>
                </a:solidFill>
                <a:latin typeface="Malgun Gothic"/>
              </a:rPr>
              <a:t>경험 부족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2578608"/>
            <a:ext cx="23774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250" b="0">
                <a:solidFill>
                  <a:srgbClr val="222222"/>
                </a:solidFill>
                <a:latin typeface="Malgun Gothic"/>
              </a:rPr>
              <a:t>위험 감내 수준과 투자성향을 명확히 파악하기 어려움</a:t>
            </a:r>
          </a:p>
        </p:txBody>
      </p:sp>
      <p:sp>
        <p:nvSpPr>
          <p:cNvPr id="13" name="Oval 12"/>
          <p:cNvSpPr/>
          <p:nvPr/>
        </p:nvSpPr>
        <p:spPr>
          <a:xfrm>
            <a:off x="7114031" y="1234440"/>
            <a:ext cx="731520" cy="731520"/>
          </a:xfrm>
          <a:prstGeom prst="ellipse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59" y="1600200"/>
            <a:ext cx="914400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09359" y="214884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500" b="1">
                <a:solidFill>
                  <a:srgbClr val="1A2F49"/>
                </a:solidFill>
                <a:latin typeface="Malgun Gothic"/>
              </a:rPr>
              <a:t>장기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578608"/>
            <a:ext cx="23774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250" b="0">
                <a:solidFill>
                  <a:srgbClr val="222222"/>
                </a:solidFill>
                <a:latin typeface="Malgun Gothic"/>
              </a:rPr>
              <a:t>성향에 맞지 않는 포트폴리오는 변동성 구간에서 유지가 어려움</a:t>
            </a:r>
          </a:p>
        </p:txBody>
      </p:sp>
      <p:sp>
        <p:nvSpPr>
          <p:cNvPr id="17" name="Oval 16"/>
          <p:cNvSpPr/>
          <p:nvPr/>
        </p:nvSpPr>
        <p:spPr>
          <a:xfrm>
            <a:off x="9902952" y="123444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14884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500" b="1">
                <a:solidFill>
                  <a:srgbClr val="1A2F49"/>
                </a:solidFill>
                <a:latin typeface="Malgun Gothic"/>
              </a:rPr>
              <a:t>맞춤 설계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578608"/>
            <a:ext cx="23774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250" b="0">
                <a:solidFill>
                  <a:srgbClr val="222222"/>
                </a:solidFill>
                <a:latin typeface="Malgun Gothic"/>
              </a:rPr>
              <a:t>수익률뿐 아니라 유지 가능성을 함께 고려해야 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43400"/>
            <a:ext cx="10332720" cy="1143000"/>
          </a:xfrm>
          <a:prstGeom prst="roundRect">
            <a:avLst/>
          </a:prstGeom>
          <a:solidFill>
            <a:srgbClr val="E1F4F4"/>
          </a:solidFill>
          <a:ln>
            <a:solidFill>
              <a:srgbClr val="E1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46304" rIns="146304" bIns="146304" rtlCol="0" anchor="ctr"/>
          <a:lstStyle/>
          <a:p>
            <a:pPr algn="ctr"/>
            <a:r>
              <a:rPr sz="2800" b="1">
                <a:solidFill>
                  <a:srgbClr val="1A2F49"/>
                </a:solidFill>
                <a:latin typeface="Malgun Gothic"/>
              </a:rPr>
              <a:t>20대에게 필요한 것은 “수익률 극대화”만이 아니라
장기적으로 유지 가능한 포트폴리오이다.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프로젝트 전체 논리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417320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투자성향
정의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286000"/>
            <a:ext cx="228600" cy="0"/>
          </a:xfrm>
          <a:prstGeom prst="line">
            <a:avLst/>
          </a:prstGeom>
          <a:ln w="2286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84248" y="1828800"/>
            <a:ext cx="141732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ETF 데이터
수집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01568" y="2286000"/>
            <a:ext cx="228600" cy="0"/>
          </a:xfrm>
          <a:prstGeom prst="line">
            <a:avLst/>
          </a:prstGeom>
          <a:ln w="2286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48456" y="1828800"/>
            <a:ext cx="1417320" cy="914400"/>
          </a:xfrm>
          <a:prstGeom prst="roundRect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ETF별 지표
계산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65776" y="2286000"/>
            <a:ext cx="228600" cy="0"/>
          </a:xfrm>
          <a:prstGeom prst="line">
            <a:avLst/>
          </a:prstGeom>
          <a:ln w="2286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12664" y="1828800"/>
            <a:ext cx="1417320" cy="914400"/>
          </a:xfrm>
          <a:prstGeom prst="roundRect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ETF
점수화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9983" y="2286000"/>
            <a:ext cx="228600" cy="0"/>
          </a:xfrm>
          <a:prstGeom prst="line">
            <a:avLst/>
          </a:prstGeom>
          <a:ln w="2286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76872" y="1828800"/>
            <a:ext cx="1417320" cy="914400"/>
          </a:xfrm>
          <a:prstGeom prst="roundRect">
            <a:avLst/>
          </a:prstGeom>
          <a:solidFill>
            <a:srgbClr val="469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시나리오별
가중치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94192" y="2286000"/>
            <a:ext cx="228600" cy="0"/>
          </a:xfrm>
          <a:prstGeom prst="line">
            <a:avLst/>
          </a:prstGeom>
          <a:ln w="2286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1828800"/>
            <a:ext cx="1417320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LP Solver
최적비중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0" y="2286000"/>
            <a:ext cx="228600" cy="0"/>
          </a:xfrm>
          <a:prstGeom prst="line">
            <a:avLst/>
          </a:prstGeom>
          <a:ln w="2286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05288" y="1828800"/>
            <a:ext cx="1417320" cy="914400"/>
          </a:xfrm>
          <a:prstGeom prst="round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algun Gothic"/>
              </a:rPr>
              <a:t>결과 요약
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49039"/>
            <a:ext cx="10515600" cy="822960"/>
          </a:xfrm>
          <a:prstGeom prst="roundRect">
            <a:avLst/>
          </a:prstGeom>
          <a:solidFill>
            <a:srgbClr val="E1F0FA"/>
          </a:solidFill>
          <a:ln>
            <a:solidFill>
              <a:srgbClr val="E1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300" b="1">
                <a:solidFill>
                  <a:srgbClr val="1A2F49"/>
                </a:solidFill>
                <a:latin typeface="Malgun Gothic"/>
              </a:rPr>
              <a:t>Yahoo Finance 데이터 → ETF 점수 → 투자성향 가중치 → Solver 최적화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074920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61872" y="4983480"/>
            <a:ext cx="971092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algun Gothic"/>
              </a:rPr>
              <a:t>가격·Adjusted Close·배당 이벤트 데이터를 기반으로 Metrics와 Scores 계산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559552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61872" y="5468112"/>
            <a:ext cx="971092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algun Gothic"/>
              </a:rPr>
              <a:t>최종적으로 성향별 Objective Z를 최대화하는 ETF 비중 도출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투자성향 기준 정의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10789"/>
              </p:ext>
            </p:extLst>
          </p:nvPr>
        </p:nvGraphicFramePr>
        <p:xfrm>
          <a:off x="914400" y="1325880"/>
          <a:ext cx="1045076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  <a:endParaRPr sz="15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기대수익률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R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(Rate)</a:t>
                      </a:r>
                      <a:endParaRPr sz="1500" b="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장기적으로 얼마나 성장 가능한가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성장성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안정성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S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(Safety)</a:t>
                      </a:r>
                      <a:endParaRPr sz="1500" b="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변동성과 낙폭이 얼마나 작은가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위험관리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현금흐름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C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(Cash Flow)</a:t>
                      </a:r>
                      <a:endParaRPr sz="1500" b="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분배금이 얼마나 높고 안정적인가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인컴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방어성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H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(Hedge)</a:t>
                      </a:r>
                      <a:endParaRPr sz="1500" b="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algun Gothic"/>
                        </a:rPr>
                        <a:t>하락장에서 얼마나 잘 버티는가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헤지·방어</a:t>
                      </a:r>
                      <a:endParaRPr sz="1500" b="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5840" y="4480560"/>
            <a:ext cx="10149840" cy="1005840"/>
          </a:xfrm>
          <a:prstGeom prst="round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400" b="1">
                <a:solidFill>
                  <a:srgbClr val="1A2F49"/>
                </a:solidFill>
                <a:latin typeface="Malgun Gothic"/>
              </a:rPr>
              <a:t>이 네 가지 기준은 ETF별 점수 산정과 최종 목적함수에 직접 반영된다.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분석 대상 ETF와 데이터 출처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777240"/>
            <a:ext cx="10698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00" b="0">
                <a:solidFill>
                  <a:srgbClr val="66707B"/>
                </a:solidFill>
                <a:latin typeface="Malgun Gothic"/>
              </a:rPr>
              <a:t>데이터 출처: Yahoo Finance 가격·Adjusted Close·배당 이벤트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6126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ETF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자산 성격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SPY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미국 대표시장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Basic Growth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QQQ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Nasdaq-100 성장주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High Growth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QLD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Nasdaq-100 2배 레버리지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Aggressive Growth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JEPI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인컴·분배금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Cashflow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SCHD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배당성장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Dividend Growth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VNQ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리츠·부동산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Real Estate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TLT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장기국채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Bond Defense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IAU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금·헤지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Gold Hedge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41732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417320"/>
            <a:ext cx="73152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25512" y="1527048"/>
            <a:ext cx="37033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Yahoo Finance 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5512" y="1938528"/>
            <a:ext cx="3703320" cy="4571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가격 데이터, Adjusted Close, 배당 이벤트를 수집한다.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74320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743200"/>
            <a:ext cx="73152" cy="1051560"/>
          </a:xfrm>
          <a:prstGeom prst="rect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25512" y="2852928"/>
            <a:ext cx="37033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활용 지표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5512" y="3264408"/>
            <a:ext cx="3703320" cy="4571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수익률, 변동성, MDD, 분배금 수익률, 상관계수 계산에 사용한다.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06908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4069080"/>
            <a:ext cx="73152" cy="1051560"/>
          </a:xfrm>
          <a:prstGeom prst="rect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25512" y="4178808"/>
            <a:ext cx="37033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검증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5512" y="4590288"/>
            <a:ext cx="3703320" cy="4571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배당 데이터는 최종 제출 전 운용사 공식 자료와 교차검증한다.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ETF 점수화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777240"/>
            <a:ext cx="10698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00" b="0">
                <a:solidFill>
                  <a:srgbClr val="66707B"/>
                </a:solidFill>
                <a:latin typeface="Malgun Gothic"/>
              </a:rPr>
              <a:t>단일 지표가 아닌 복합 지표 기반 0~100점 환산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201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점수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사용 지표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산정 논리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Rᵢ 기대수익률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CAGR, 위험조정수익률, Return/MDD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위험 대비 성장 효율 반영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Sᵢ 안정성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Annual Volatility, MDD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변동성과 최대낙폭이 작을수록 높은 점수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Cᵢ 현금흐름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Distribution Yield, 분배금 안정성, 배당 데이터 신뢰도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분배금 규모와 지속 가능성 반영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Hᵢ 방어성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SPY 상관계수, 하락장 수익률, MDD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시장과 다르게 움직이고 하락장에서 버티는지 반영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074920"/>
            <a:ext cx="10698480" cy="685800"/>
          </a:xfrm>
          <a:prstGeom prst="roundRect">
            <a:avLst/>
          </a:prstGeom>
          <a:solidFill>
            <a:srgbClr val="E1F0FA"/>
          </a:solidFill>
          <a:ln>
            <a:solidFill>
              <a:srgbClr val="E1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800" b="1" dirty="0" err="1">
                <a:solidFill>
                  <a:srgbClr val="1A2F49"/>
                </a:solidFill>
                <a:latin typeface="Malgun Gothic"/>
              </a:rPr>
              <a:t>장기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데이터가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짧은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ETF</a:t>
            </a:r>
            <a:r>
              <a:rPr lang="en-US" sz="1800" b="1" dirty="0">
                <a:solidFill>
                  <a:srgbClr val="1A2F49"/>
                </a:solidFill>
                <a:latin typeface="Malgun Gothic"/>
              </a:rPr>
              <a:t>(ex. JEPI)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는 Available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Years를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활용한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Reliability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보정으로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
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점수가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과도하게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극단화되지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않도록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A2F49"/>
                </a:solidFill>
                <a:latin typeface="Malgun Gothic"/>
              </a:rPr>
              <a:t>조정한다</a:t>
            </a:r>
            <a:r>
              <a:rPr sz="1800" b="1" dirty="0">
                <a:solidFill>
                  <a:srgbClr val="1A2F49"/>
                </a:solidFill>
                <a:latin typeface="Malgun Gothic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AHP-LP 모델 구조와 목적함수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3198861"/>
                  </p:ext>
                </p:extLst>
              </p:nvPr>
            </p:nvGraphicFramePr>
            <p:xfrm>
              <a:off x="640080" y="1143000"/>
              <a:ext cx="5188204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51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Malgun Gothic"/>
                            </a:rPr>
                            <a:t>구성</a:t>
                          </a:r>
                        </a:p>
                      </a:txBody>
                      <a:tcPr marL="27432" marR="27432" marT="27432" marB="27432" anchor="ctr">
                        <a:solidFill>
                          <a:srgbClr val="1A2F4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Malgun Gothic"/>
                            </a:rPr>
                            <a:t>역할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1A2F4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1. 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AHP/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가중치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ko-KR" alt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투자자가 네 </a:t>
                          </a:r>
                          <a:r>
                            <a:rPr lang="ko-KR" altLang="en-US"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기준</a:t>
                          </a:r>
                          <a:r>
                            <a:rPr lang="ko-KR" alt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중 </a:t>
                          </a:r>
                          <a:r>
                            <a:rPr lang="ko-KR" altLang="en-US"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무엇을</a:t>
                          </a:r>
                          <a:r>
                            <a:rPr lang="ko-KR" alt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더 </a:t>
                          </a:r>
                          <a:r>
                            <a:rPr lang="ko-KR" altLang="en-US"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중요하게</a:t>
                          </a:r>
                          <a:r>
                            <a:rPr lang="ko-KR" alt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lang="ko-KR" altLang="en-US"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보는지</a:t>
                          </a:r>
                          <a:r>
                            <a:rPr lang="ko-KR" alt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lang="ko-KR" altLang="en-US"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수치화</a:t>
                          </a:r>
                          <a:endParaRPr lang="ko-KR" altLang="en-US"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  <a:p>
                          <a:pPr algn="l"/>
                          <a:r>
                            <a:rPr lang="en-US" altLang="ko-KR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ko-KR" alt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ko-KR" alt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결정</a:t>
                          </a:r>
                          <a:r>
                            <a:rPr lang="en-US" altLang="ko-KR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)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2. 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ETF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점수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2F5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각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ETF가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R, S, C, H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기준을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얼마나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충족하는지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평가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2F5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3. 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LP Solver</a:t>
                          </a: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목적함수를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최대화하는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ETF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투자비중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계산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3198861"/>
                  </p:ext>
                </p:extLst>
              </p:nvPr>
            </p:nvGraphicFramePr>
            <p:xfrm>
              <a:off x="640080" y="1143000"/>
              <a:ext cx="5188204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51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Malgun Gothic"/>
                            </a:rPr>
                            <a:t>구성</a:t>
                          </a:r>
                        </a:p>
                      </a:txBody>
                      <a:tcPr marL="27432" marR="27432" marT="27432" marB="27432" anchor="ctr">
                        <a:solidFill>
                          <a:srgbClr val="1A2F4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Malgun Gothic"/>
                            </a:rPr>
                            <a:t>역할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1A2F4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1. 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AHP/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가중치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7432" marR="27432" marT="27432" marB="27432" anchor="ctr">
                        <a:blipFill>
                          <a:blip r:embed="rId2"/>
                          <a:stretch>
                            <a:fillRect l="-39542" t="-101020" r="-654" b="-201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2. 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ETF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점수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2F5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각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ETF가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R, S, C, H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기준을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얼마나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충족하는지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평가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2F5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3. 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LP Solver</a:t>
                          </a: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목적함수를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최대화하는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ETF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투자비중</a:t>
                          </a:r>
                          <a:r>
                            <a:rPr sz="1150" b="0" dirty="0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 </a:t>
                          </a:r>
                          <a:r>
                            <a:rPr sz="1150" b="0" dirty="0" err="1">
                              <a:solidFill>
                                <a:srgbClr val="222222"/>
                              </a:solidFill>
                              <a:latin typeface="Malgun Gothic"/>
                            </a:rPr>
                            <a:t>계산</a:t>
                          </a:r>
                          <a:endParaRPr sz="1150" b="0" dirty="0">
                            <a:solidFill>
                              <a:srgbClr val="222222"/>
                            </a:solidFill>
                            <a:latin typeface="Malgun Gothic"/>
                          </a:endParaRPr>
                        </a:p>
                      </a:txBody>
                      <a:tcPr marL="27432" marR="2743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5966925" y="1261872"/>
                <a:ext cx="6144210" cy="726948"/>
              </a:xfrm>
              <a:prstGeom prst="roundRect">
                <a:avLst/>
              </a:prstGeom>
              <a:solidFill>
                <a:srgbClr val="E1F4F4"/>
              </a:solidFill>
              <a:ln>
                <a:solidFill>
                  <a:srgbClr val="E1F4F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3152" tIns="73152" rIns="73152" bIns="7315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200" b="1" i="1" dirty="0" smtClean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ko-KR" altLang="en-US" sz="2200" b="1" i="0" dirty="0">
                          <a:solidFill>
                            <a:srgbClr val="1A2F49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ko-KR" altLang="en-US" sz="2200" b="1" i="1" dirty="0">
                              <a:solidFill>
                                <a:srgbClr val="1A2F49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sz="2200" b="1" dirty="0">
                  <a:solidFill>
                    <a:srgbClr val="1A2F49"/>
                  </a:solidFill>
                  <a:latin typeface="Malgun Gothic"/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925" y="1261872"/>
                <a:ext cx="6144210" cy="7269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E1F4F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6339840" y="2260854"/>
            <a:ext cx="5212080" cy="731520"/>
          </a:xfrm>
          <a:prstGeom prst="roundRect">
            <a:avLst/>
          </a:prstGeom>
          <a:solidFill>
            <a:srgbClr val="E1F0FA"/>
          </a:solidFill>
          <a:ln>
            <a:solidFill>
              <a:srgbClr val="E1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400" b="1" dirty="0">
                <a:solidFill>
                  <a:srgbClr val="1A2F49"/>
                </a:solidFill>
                <a:latin typeface="Malgun Gothic"/>
              </a:rPr>
              <a:t>Maximize  Z = Σ Pᵢ × xᵢ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251959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3271" y="4160520"/>
            <a:ext cx="1053388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 dirty="0">
                <a:solidFill>
                  <a:srgbClr val="222222"/>
                </a:solidFill>
                <a:latin typeface="Malgun Gothic"/>
              </a:rPr>
              <a:t>Pᵢ: </a:t>
            </a:r>
            <a:r>
              <a:rPr lang="ko-KR" altLang="en-US" sz="1500" dirty="0">
                <a:solidFill>
                  <a:srgbClr val="222222"/>
                </a:solidFill>
                <a:latin typeface="Malgun Gothic"/>
              </a:rPr>
              <a:t>가중치 기반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ETF별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종합점수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500" b="1" dirty="0">
                <a:solidFill>
                  <a:srgbClr val="222222"/>
                </a:solidFill>
                <a:latin typeface="Malgun Gothic"/>
              </a:rPr>
              <a:t>xᵢ: </a:t>
            </a:r>
            <a:r>
              <a:rPr lang="ko-KR" altLang="en-US" sz="1500" b="0" dirty="0">
                <a:solidFill>
                  <a:srgbClr val="222222"/>
                </a:solidFill>
                <a:latin typeface="Malgun Gothic"/>
              </a:rPr>
              <a:t>포트폴리오 내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ETF별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투자비중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500" b="1" dirty="0">
                <a:solidFill>
                  <a:srgbClr val="222222"/>
                </a:solidFill>
                <a:latin typeface="Malgun Gothic"/>
              </a:rPr>
              <a:t>Z: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포트폴리오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총점</a:t>
            </a:r>
            <a:endParaRPr sz="1500" b="0" dirty="0">
              <a:solidFill>
                <a:srgbClr val="222222"/>
              </a:solidFill>
              <a:latin typeface="Malgun Gothic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68680" y="4736592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3271" y="4645152"/>
            <a:ext cx="1053388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0" dirty="0" err="1">
                <a:solidFill>
                  <a:srgbClr val="222222"/>
                </a:solidFill>
                <a:latin typeface="Malgun Gothic"/>
              </a:rPr>
              <a:t>시나리오별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투자성향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가중치에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따라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같은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ETF라도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종합점수와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최적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비중이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algun Gothic"/>
              </a:rPr>
              <a:t>달라진다</a:t>
            </a:r>
            <a:r>
              <a:rPr sz="1500" b="0" dirty="0">
                <a:solidFill>
                  <a:srgbClr val="222222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8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13D57143-C7A2-C995-CADB-E4C9F236A86A}"/>
              </a:ext>
            </a:extLst>
          </p:cNvPr>
          <p:cNvSpPr/>
          <p:nvPr/>
        </p:nvSpPr>
        <p:spPr>
          <a:xfrm>
            <a:off x="1033271" y="5133454"/>
            <a:ext cx="10533888" cy="8101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r>
              <a:rPr lang="en-US" altLang="ko-KR" sz="1600" dirty="0">
                <a:solidFill>
                  <a:srgbClr val="1A2F49"/>
                </a:solidFill>
                <a:latin typeface="Malgun Gothic"/>
              </a:rPr>
              <a:t>AHP/</a:t>
            </a:r>
            <a:r>
              <a:rPr lang="ko-KR" altLang="en-US" sz="1600" dirty="0">
                <a:solidFill>
                  <a:srgbClr val="1A2F49"/>
                </a:solidFill>
                <a:latin typeface="Malgun Gothic"/>
              </a:rPr>
              <a:t>가중치는 기준별 선호도 </a:t>
            </a:r>
            <a:r>
              <a:rPr lang="en-US" altLang="ko-KR" sz="1600" dirty="0">
                <a:solidFill>
                  <a:srgbClr val="1A2F49"/>
                </a:solidFill>
                <a:latin typeface="Malgun Gothic"/>
              </a:rPr>
              <a:t>w</a:t>
            </a:r>
            <a:r>
              <a:rPr lang="ko-KR" altLang="en-US" sz="1600" dirty="0">
                <a:solidFill>
                  <a:srgbClr val="1A2F49"/>
                </a:solidFill>
                <a:latin typeface="Malgun Gothic"/>
              </a:rPr>
              <a:t>를 정하고</a:t>
            </a:r>
            <a:r>
              <a:rPr lang="en-US" altLang="ko-KR" sz="1600" dirty="0">
                <a:solidFill>
                  <a:srgbClr val="1A2F49"/>
                </a:solidFill>
                <a:latin typeface="Malgun Gothic"/>
              </a:rPr>
              <a:t>, LP</a:t>
            </a:r>
            <a:r>
              <a:rPr lang="ko-KR" altLang="en-US" sz="1600" dirty="0">
                <a:solidFill>
                  <a:srgbClr val="1A2F49"/>
                </a:solidFill>
                <a:latin typeface="Malgun Gothic"/>
              </a:rPr>
              <a:t>는 </a:t>
            </a:r>
            <a:r>
              <a:rPr lang="en-US" altLang="ko-KR" sz="1600" dirty="0">
                <a:solidFill>
                  <a:srgbClr val="1A2F49"/>
                </a:solidFill>
                <a:latin typeface="Malgun Gothic"/>
              </a:rPr>
              <a:t>ETF </a:t>
            </a:r>
            <a:r>
              <a:rPr lang="ko-KR" altLang="en-US" sz="1600" dirty="0">
                <a:solidFill>
                  <a:srgbClr val="1A2F49"/>
                </a:solidFill>
                <a:latin typeface="Malgun Gothic"/>
              </a:rPr>
              <a:t>점수와 제약조건을 이용해 최적 비중 </a:t>
            </a:r>
            <a:r>
              <a:rPr lang="en-US" altLang="ko-KR" sz="1600" dirty="0">
                <a:solidFill>
                  <a:srgbClr val="1A2F49"/>
                </a:solidFill>
                <a:latin typeface="Malgun Gothic"/>
              </a:rPr>
              <a:t>x</a:t>
            </a:r>
            <a:r>
              <a:rPr lang="ko-KR" altLang="en-US" sz="1600" dirty="0">
                <a:solidFill>
                  <a:srgbClr val="1A2F49"/>
                </a:solidFill>
                <a:latin typeface="Malgun Gothic"/>
              </a:rPr>
              <a:t>를 계산한다</a:t>
            </a:r>
            <a:r>
              <a:rPr lang="en-US" altLang="ko-KR" sz="1600" dirty="0">
                <a:solidFill>
                  <a:srgbClr val="1A2F49"/>
                </a:solidFill>
                <a:latin typeface="Malgun Gothic"/>
              </a:rPr>
              <a:t>.</a:t>
            </a:r>
          </a:p>
          <a:p>
            <a:pPr>
              <a:spcBef>
                <a:spcPts val="200"/>
              </a:spcBef>
            </a:pPr>
            <a:r>
              <a:rPr lang="ko-KR" altLang="en-US" sz="1400" b="1" dirty="0">
                <a:solidFill>
                  <a:srgbClr val="008080"/>
                </a:solidFill>
                <a:latin typeface="Malgun Gothic"/>
              </a:rPr>
              <a:t>가중치</a:t>
            </a:r>
            <a:r>
              <a:rPr lang="en-US" altLang="ko-KR" sz="1400" b="1" dirty="0">
                <a:solidFill>
                  <a:srgbClr val="008080"/>
                </a:solidFill>
                <a:latin typeface="Malgun Gothic"/>
              </a:rPr>
              <a:t>(w) → </a:t>
            </a:r>
            <a:r>
              <a:rPr lang="ko-KR" altLang="en-US" sz="1400" b="1" dirty="0">
                <a:solidFill>
                  <a:srgbClr val="008080"/>
                </a:solidFill>
                <a:latin typeface="Malgun Gothic"/>
              </a:rPr>
              <a:t>종합점수</a:t>
            </a:r>
            <a:r>
              <a:rPr lang="en-US" altLang="ko-KR" sz="1400" b="1" dirty="0">
                <a:solidFill>
                  <a:srgbClr val="008080"/>
                </a:solidFill>
                <a:latin typeface="Malgun Gothic"/>
              </a:rPr>
              <a:t>(Pᵢ) → Solver </a:t>
            </a:r>
            <a:r>
              <a:rPr lang="ko-KR" altLang="en-US" sz="1400" b="1" dirty="0">
                <a:solidFill>
                  <a:srgbClr val="008080"/>
                </a:solidFill>
                <a:latin typeface="Malgun Gothic"/>
              </a:rPr>
              <a:t>최적비중</a:t>
            </a:r>
            <a:r>
              <a:rPr lang="en-US" altLang="ko-KR" sz="1400" b="1" dirty="0">
                <a:solidFill>
                  <a:srgbClr val="008080"/>
                </a:solidFill>
                <a:latin typeface="Malgun Gothic"/>
              </a:rPr>
              <a:t>(xᵢ)</a:t>
            </a:r>
          </a:p>
          <a:p>
            <a:pPr algn="l"/>
            <a:endParaRPr sz="1500" b="0" dirty="0">
              <a:solidFill>
                <a:srgbClr val="222222"/>
              </a:solidFill>
              <a:latin typeface="Malgun Gothic"/>
            </a:endParaRP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CB779D38-89C0-276F-532C-1750DA61E455}"/>
              </a:ext>
            </a:extLst>
          </p:cNvPr>
          <p:cNvSpPr/>
          <p:nvPr/>
        </p:nvSpPr>
        <p:spPr>
          <a:xfrm>
            <a:off x="868680" y="5226045"/>
            <a:ext cx="82296" cy="82296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최종 제약조건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777240"/>
            <a:ext cx="10698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00" b="0">
                <a:solidFill>
                  <a:srgbClr val="66707B"/>
                </a:solidFill>
                <a:latin typeface="Malgun Gothic"/>
              </a:rPr>
              <a:t>현실적인 포트폴리오 구성을 위한 투자 제약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051560"/>
          <a:ext cx="106527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제약조건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Σxᵢ = 100%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전체 자산 배분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xᵢ ≥ 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공매도 방지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xᵢ ≤ 30%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특정 ETF 과집중 방지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QLD ≤ 15%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레버리지 위험 제한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QQQ ≥ 0.5 × QLD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QLD를 단독 코어가 아닌 위성 자산으로 제한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성장자산 최소·최대비중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투자성향별 성장 노출 조절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Risk Score 상한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포트폴리오 위험 과다 방지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Cashflow Score 하한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현금흐름 성향 반영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Defense Score 하한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22222"/>
                          </a:solidFill>
                          <a:latin typeface="Malgun Gothic"/>
                        </a:rPr>
                        <a:t>하락장 방어성 반영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0120" y="5669280"/>
            <a:ext cx="10287000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ko-KR" altLang="en-US" sz="1600" b="1" dirty="0">
                <a:solidFill>
                  <a:srgbClr val="1A2F49"/>
                </a:solidFill>
                <a:latin typeface="Malgun Gothic"/>
              </a:rPr>
              <a:t>제약조건은 투기가 아닌 장기적인 투자를 위해 분산투자</a:t>
            </a:r>
            <a:r>
              <a:rPr lang="en-US" altLang="ko-KR" sz="1600" b="1" dirty="0">
                <a:solidFill>
                  <a:srgbClr val="1A2F49"/>
                </a:solidFill>
                <a:latin typeface="Malgun Gothic"/>
              </a:rPr>
              <a:t>, </a:t>
            </a:r>
            <a:r>
              <a:rPr lang="ko-KR" altLang="en-US" sz="1600" b="1" dirty="0">
                <a:solidFill>
                  <a:srgbClr val="1A2F49"/>
                </a:solidFill>
                <a:latin typeface="Malgun Gothic"/>
              </a:rPr>
              <a:t>레버리지 제한</a:t>
            </a:r>
            <a:r>
              <a:rPr lang="en-US" altLang="ko-KR" sz="1600" b="1" dirty="0">
                <a:solidFill>
                  <a:srgbClr val="1A2F49"/>
                </a:solidFill>
                <a:latin typeface="Malgun Gothic"/>
              </a:rPr>
              <a:t>, </a:t>
            </a:r>
            <a:r>
              <a:rPr lang="ko-KR" altLang="en-US" sz="1600" b="1" dirty="0">
                <a:solidFill>
                  <a:srgbClr val="1A2F49"/>
                </a:solidFill>
                <a:latin typeface="Malgun Gothic"/>
              </a:rPr>
              <a:t>위험관리 조건을 반영한 것이다</a:t>
            </a:r>
            <a:r>
              <a:rPr lang="en-US" altLang="ko-KR" sz="1600" b="1" dirty="0">
                <a:solidFill>
                  <a:srgbClr val="1A2F49"/>
                </a:solidFill>
                <a:latin typeface="Malgun Gothic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시나리오 구성: 검증용 vs 20대 실제 적용용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① 모델 검증용 시나리오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544067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algun Gothic"/>
                        </a:rPr>
                        <a:t>Scenario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algun Gothic"/>
                        </a:rPr>
                        <a:t>R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algun Gothic"/>
                        </a:rPr>
                        <a:t>S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algun Gothic"/>
                        </a:rPr>
                        <a:t>H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Aggressive Growth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기대수익률 작동 확인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Stability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안정성 작동 확인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Cashflow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현금흐름 작동 확인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Defense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방어성 작동 확인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Balanced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algun Gothic"/>
                        </a:rPr>
                        <a:t>균형 적용 결과 확인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1005840"/>
            <a:ext cx="53949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② 20대 실제 투자 시나리오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417320"/>
          <a:ext cx="54406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Scenario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H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27432" marR="27432" marT="27432" marB="27432" anchor="ctr"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20s Growth Core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성장성을 가장 중시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20s Stable Growth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35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안정성 강화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20s Cashflow Builder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30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현금흐름 강화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20s Defensive Investor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방어성 강화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20s Balanced Investor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30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222"/>
                          </a:solidFill>
                          <a:latin typeface="Malgun Gothic"/>
                        </a:rPr>
                        <a:t>성장·안정 중심 균형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486400"/>
            <a:ext cx="10607040" cy="594360"/>
          </a:xfrm>
          <a:prstGeom prst="round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1A2F49"/>
                </a:solidFill>
                <a:latin typeface="Malgun Gothic"/>
              </a:rPr>
              <a:t>검증용은 모델 반응 확인, 실제 적용용은 20대 투자성향을 반영한 응용 시나리오이다.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기대 산출물 및 검증 방법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437025"/>
              </p:ext>
            </p:extLst>
          </p:nvPr>
        </p:nvGraphicFramePr>
        <p:xfrm>
          <a:off x="822959" y="1097280"/>
          <a:ext cx="586130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산출물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27432" marR="27432" marT="27432" marB="27432" anchor="ctr">
                    <a:solidFill>
                      <a:srgbClr val="1A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시나리오별 ETF 최적 비중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투자성향별 포트폴리오 구성 결과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Objective Z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포트폴리오 총점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제약조건 충족 여부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최적해가 현실 조건을 만족하는지 확인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Portfolio Summary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추정 기대수익률, 변동성, MDD, 분배금 수익률 요약</a:t>
                      </a:r>
                    </a:p>
                  </a:txBody>
                  <a:tcPr marL="27432" marR="27432" marT="27432" marB="27432" anchor="ctr"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Malgun Gothic"/>
                        </a:rPr>
                        <a:t>Python 재계산</a:t>
                      </a: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>
                          <a:solidFill>
                            <a:srgbClr val="222222"/>
                          </a:solidFill>
                          <a:latin typeface="Malgun Gothic"/>
                        </a:rPr>
                        <a:t>Excel Solver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결과와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비교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검증</a:t>
                      </a:r>
                      <a:endParaRPr sz="1150" b="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27432" marR="2743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95160" y="1188720"/>
            <a:ext cx="42519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700" b="1">
                <a:solidFill>
                  <a:srgbClr val="1A2F49"/>
                </a:solidFill>
                <a:latin typeface="Malgun Gothic"/>
              </a:rPr>
              <a:t>검증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3611880" cy="5303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Excel Solver 결과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0" y="2377440"/>
            <a:ext cx="0" cy="320040"/>
          </a:xfrm>
          <a:prstGeom prst="line">
            <a:avLst/>
          </a:prstGeom>
          <a:ln w="2032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788920"/>
            <a:ext cx="3611880" cy="530352"/>
          </a:xfrm>
          <a:prstGeom prst="roundRect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제약조건 OK 확인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3337560"/>
            <a:ext cx="0" cy="320040"/>
          </a:xfrm>
          <a:prstGeom prst="line">
            <a:avLst/>
          </a:prstGeom>
          <a:ln w="20320">
            <a:solidFill>
              <a:srgbClr val="667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3749039"/>
            <a:ext cx="3611880" cy="530352"/>
          </a:xfrm>
          <a:prstGeom prst="roundRect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Python 재계산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" y="4960619"/>
            <a:ext cx="10652760" cy="868680"/>
          </a:xfrm>
          <a:prstGeom prst="roundRect">
            <a:avLst/>
          </a:prstGeom>
          <a:solidFill>
            <a:srgbClr val="E1F0FA"/>
          </a:solidFill>
          <a:ln>
            <a:solidFill>
              <a:srgbClr val="E1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400" b="1">
                <a:solidFill>
                  <a:srgbClr val="1A2F49"/>
                </a:solidFill>
                <a:latin typeface="Malgun Gothic"/>
              </a:rPr>
              <a:t>최종적으로 성향별 포트폴리오를 비교할 수 있는 의사결정 모델을 제시한다.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400" b="1">
                <a:solidFill>
                  <a:srgbClr val="1A2F49"/>
                </a:solidFill>
                <a:latin typeface="Malgun Gothic"/>
              </a:rPr>
              <a:t>결론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97280"/>
            <a:ext cx="10149840" cy="1005840"/>
          </a:xfrm>
          <a:prstGeom prst="roundRect">
            <a:avLst/>
          </a:prstGeom>
          <a:solidFill>
            <a:srgbClr val="E1F4F4"/>
          </a:solidFill>
          <a:ln>
            <a:solidFill>
              <a:srgbClr val="E1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400" b="1">
                <a:solidFill>
                  <a:srgbClr val="1A2F49"/>
                </a:solidFill>
                <a:latin typeface="Malgun Gothic"/>
              </a:rPr>
              <a:t>본 프로젝트는 20대 투자성향을 정량화하고,
Yahoo Finance 기반 ETF 데이터로 성향별 최적 포트폴리오를 도출한다.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731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1832" y="2852928"/>
            <a:ext cx="4892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성향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3264408"/>
            <a:ext cx="4892040" cy="2743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기대수익률·안정성·현금흐름·방어성 기준으로 투자성향을 수치화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73152" cy="868680"/>
          </a:xfrm>
          <a:prstGeom prst="rect">
            <a:avLst/>
          </a:prstGeom>
          <a:solidFill>
            <a:srgbClr val="F7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65392" y="2852928"/>
            <a:ext cx="4892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데이터 기반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5392" y="3264408"/>
            <a:ext cx="4892040" cy="2743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ETF별 수익률, 변동성, MDD, 배당, 하락장 방어력을 점수화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77639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977639"/>
            <a:ext cx="73152" cy="868680"/>
          </a:xfrm>
          <a:prstGeom prst="rect">
            <a:avLst/>
          </a:prstGeom>
          <a:solidFill>
            <a:srgbClr val="E8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1832" y="4087368"/>
            <a:ext cx="4892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Solver 최적화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" y="4498848"/>
            <a:ext cx="4892040" cy="2743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목적함수와 현실적 제약조건을 통해 성향별 ETF 비중 도출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77639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977639"/>
            <a:ext cx="73152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65392" y="4087368"/>
            <a:ext cx="4892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500" b="1">
                <a:solidFill>
                  <a:srgbClr val="1A2F49"/>
                </a:solidFill>
                <a:latin typeface="Malgun Gothic"/>
              </a:rPr>
              <a:t>검증 가능성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392" y="4498848"/>
            <a:ext cx="4892040" cy="2743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50" b="0">
                <a:solidFill>
                  <a:srgbClr val="222222"/>
                </a:solidFill>
                <a:latin typeface="Malgun Gothic"/>
              </a:rPr>
              <a:t>Excel Solver 결과를 Python으로 재계산해 결과 일치 여부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5852160"/>
            <a:ext cx="987552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1A2F49"/>
                </a:solidFill>
                <a:latin typeface="Malgun Gothic"/>
              </a:rPr>
              <a:t>단순 수익률 중심 ETF 선택에서 벗어나, 개인 성향과 현실적 투자 제약을 함께 반영한다.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7A1F-D7B5-84DF-62F2-8692F46D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78206-8810-38BB-4B53-58911652509E}"/>
              </a:ext>
            </a:extLst>
          </p:cNvPr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A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F2034D-5050-A897-C92C-97B8FC4D01ED}"/>
              </a:ext>
            </a:extLst>
          </p:cNvPr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</a:rPr>
              <a:t>1</a:t>
            </a:r>
            <a:r>
              <a:rPr lang="en-US" sz="1000" b="1" dirty="0">
                <a:solidFill>
                  <a:srgbClr val="FFFFFF"/>
                </a:solidFill>
                <a:latin typeface="Malgun Gothic"/>
              </a:rPr>
              <a:t>3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37E58E-38AE-303B-6E51-23012EA8A7E9}"/>
              </a:ext>
            </a:extLst>
          </p:cNvPr>
          <p:cNvSpPr/>
          <p:nvPr/>
        </p:nvSpPr>
        <p:spPr>
          <a:xfrm>
            <a:off x="868680" y="22860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lang="ko-KR" altLang="en-US" sz="2400" b="1" dirty="0">
                <a:solidFill>
                  <a:srgbClr val="1A2F49"/>
                </a:solidFill>
                <a:latin typeface="Malgun Gothic"/>
              </a:rPr>
              <a:t>마무리</a:t>
            </a:r>
            <a:endParaRPr sz="2400" b="1" dirty="0">
              <a:solidFill>
                <a:srgbClr val="1A2F49"/>
              </a:solidFill>
              <a:latin typeface="Malgun Gothic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2E1E59-F320-640C-7E8E-D137E77235DA}"/>
              </a:ext>
            </a:extLst>
          </p:cNvPr>
          <p:cNvSpPr/>
          <p:nvPr/>
        </p:nvSpPr>
        <p:spPr>
          <a:xfrm>
            <a:off x="411480" y="6510528"/>
            <a:ext cx="7772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800" b="0">
                <a:solidFill>
                  <a:srgbClr val="66707B"/>
                </a:solidFill>
                <a:latin typeface="Malgun Gothic"/>
              </a:rPr>
              <a:t>AHP-LP 기반 20대 맞춤형 ETF 포트폴리오 설계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D85D00-929B-87E3-6620-92ABC534EAE2}"/>
              </a:ext>
            </a:extLst>
          </p:cNvPr>
          <p:cNvSpPr/>
          <p:nvPr/>
        </p:nvSpPr>
        <p:spPr>
          <a:xfrm>
            <a:off x="11292840" y="6510528"/>
            <a:ext cx="41148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66707B"/>
                </a:solidFill>
                <a:latin typeface="Malgun Gothic"/>
              </a:rPr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1B9D1C-11B7-73D9-3FCD-A295EBFA9B74}"/>
              </a:ext>
            </a:extLst>
          </p:cNvPr>
          <p:cNvSpPr txBox="1"/>
          <p:nvPr/>
        </p:nvSpPr>
        <p:spPr>
          <a:xfrm>
            <a:off x="1110488" y="1198043"/>
            <a:ext cx="99720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1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3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1194</Words>
  <Application>Microsoft Office PowerPoint</Application>
  <PresentationFormat>와이드스크린</PresentationFormat>
  <Paragraphs>299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KimSunWoo</dc:creator>
  <cp:keywords/>
  <dc:description>generated using python-pptx</dc:description>
  <cp:lastModifiedBy>김선우</cp:lastModifiedBy>
  <cp:revision>7</cp:revision>
  <dcterms:created xsi:type="dcterms:W3CDTF">2013-01-27T09:14:16Z</dcterms:created>
  <dcterms:modified xsi:type="dcterms:W3CDTF">2026-05-15T12:53:51Z</dcterms:modified>
  <cp:category/>
</cp:coreProperties>
</file>